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1"/>
  </p:notesMasterIdLst>
  <p:sldIdLst>
    <p:sldId id="4724" r:id="rId10"/>
    <p:sldId id="4752" r:id="rId12"/>
    <p:sldId id="4754" r:id="rId13"/>
    <p:sldId id="4755" r:id="rId14"/>
    <p:sldId id="4728" r:id="rId15"/>
    <p:sldId id="4730" r:id="rId16"/>
    <p:sldId id="4731" r:id="rId17"/>
    <p:sldId id="4759" r:id="rId18"/>
    <p:sldId id="4751" r:id="rId19"/>
    <p:sldId id="475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124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85CB7-49FB-4B4D-9CD5-1F55FC65B1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1CEC2-91A6-4C68-9CEA-B78A65B9EB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这是我们整个研究的技术路线图。整个流程可以分为两个主要阶段。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第一阶段是“正向设计流程”，从左上角的ANSYS建模开始，经过拓扑优化、数据处理、轮廓识别，最终到左下角的NURBS重构与三维验证。这是一个物理机理驱动的、精确但计算资源消耗大的过程。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第二阶段是“数据驱动加速”。如右半部分所示，我们将多次运行正向流程，积累大量的输入参数与输出几何之间的对应关系，建立高质量的数据集，最后训练一个MLP神经网络。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旦训练完成，这个网络就学习了复杂的映射关系，能够实现对最优结构的毫秒级快速预测。请大家特别注意底部的核心思想：我们的目标不是用神经网络取代有限元，而是让它成为强大的“代理模型”，在方案筛选和初步设计阶段大幅提升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介绍拓扑优化的核心数学模型。我们采用的是经典的SIMP模型。这个公式的巧妙之处在于，它通过一个惩罚因子p，使得中间密度的材料变得“不划算”，从而引导算法向只使用实心（密度1）和空心（密度0）材料的方向收敛。通常p取3就可以得到比较好的结果。同时，为了保证计算的稳定性，避免出现棋盘格一样的不合理结果，我们还采用了密度过滤技术，简单来说，就是让每个单元的密度决策都受到其邻居单元的影响，从而使结果更平滑、更合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整个技术链路的末端，我们设计了一个神经网络框架。需要强调的是，我们的目标不是用AI替代有限元，而是把它作为一个快速预测工具。它的输入是工况参数，输出是我们前面提到的NURBS控制点。这样，在未来面对不同工况时，我们可以快速得到一个近优的几何方案，再进行精确验证，从而大大提高设计效率。目前，这个框架已经搭建完成，下一步是进行真实数据的训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工作进行总结。我们已经完成了从拓扑优化到参数化几何的核心技术链路，并搭建了神经网络的框架。当然，研究仍有很多可扩展和待完成的部分，比如引入热载荷、进行真实的网络训练等。我们的工作为涡轮盘的智能优化设计提供了一个可行的工程化路径。我的汇报到此结束，感谢各位评委老师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5.jpe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4.jpe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1" Type="http://schemas.openxmlformats.org/officeDocument/2006/relationships/notesSlide" Target="../notesSlides/notesSlide3.xml"/><Relationship Id="rId50" Type="http://schemas.openxmlformats.org/officeDocument/2006/relationships/slideLayout" Target="../slideLayouts/slideLayout5.xml"/><Relationship Id="rId5" Type="http://schemas.openxmlformats.org/officeDocument/2006/relationships/image" Target="../media/image7.svg"/><Relationship Id="rId49" Type="http://schemas.openxmlformats.org/officeDocument/2006/relationships/image" Target="../media/image26.png"/><Relationship Id="rId48" Type="http://schemas.openxmlformats.org/officeDocument/2006/relationships/image" Target="../media/image25.png"/><Relationship Id="rId47" Type="http://schemas.openxmlformats.org/officeDocument/2006/relationships/image" Target="../media/image24.png"/><Relationship Id="rId46" Type="http://schemas.openxmlformats.org/officeDocument/2006/relationships/tags" Target="../tags/tag33.xml"/><Relationship Id="rId45" Type="http://schemas.openxmlformats.org/officeDocument/2006/relationships/image" Target="../media/image23.png"/><Relationship Id="rId44" Type="http://schemas.openxmlformats.org/officeDocument/2006/relationships/tags" Target="../tags/tag32.xml"/><Relationship Id="rId43" Type="http://schemas.openxmlformats.org/officeDocument/2006/relationships/image" Target="../media/image22.png"/><Relationship Id="rId42" Type="http://schemas.openxmlformats.org/officeDocument/2006/relationships/tags" Target="../tags/tag31.xml"/><Relationship Id="rId41" Type="http://schemas.openxmlformats.org/officeDocument/2006/relationships/tags" Target="../tags/tag30.xml"/><Relationship Id="rId40" Type="http://schemas.openxmlformats.org/officeDocument/2006/relationships/image" Target="../media/image21.svg"/><Relationship Id="rId4" Type="http://schemas.openxmlformats.org/officeDocument/2006/relationships/image" Target="../media/image6.png"/><Relationship Id="rId39" Type="http://schemas.openxmlformats.org/officeDocument/2006/relationships/image" Target="../media/image20.png"/><Relationship Id="rId38" Type="http://schemas.openxmlformats.org/officeDocument/2006/relationships/tags" Target="../tags/tag29.xml"/><Relationship Id="rId37" Type="http://schemas.openxmlformats.org/officeDocument/2006/relationships/tags" Target="../tags/tag28.xml"/><Relationship Id="rId36" Type="http://schemas.openxmlformats.org/officeDocument/2006/relationships/tags" Target="../tags/tag27.xml"/><Relationship Id="rId35" Type="http://schemas.openxmlformats.org/officeDocument/2006/relationships/image" Target="../media/image19.svg"/><Relationship Id="rId34" Type="http://schemas.openxmlformats.org/officeDocument/2006/relationships/image" Target="../media/image18.png"/><Relationship Id="rId33" Type="http://schemas.openxmlformats.org/officeDocument/2006/relationships/tags" Target="../tags/tag26.xml"/><Relationship Id="rId32" Type="http://schemas.openxmlformats.org/officeDocument/2006/relationships/tags" Target="../tags/tag25.xml"/><Relationship Id="rId31" Type="http://schemas.openxmlformats.org/officeDocument/2006/relationships/tags" Target="../tags/tag24.xml"/><Relationship Id="rId30" Type="http://schemas.openxmlformats.org/officeDocument/2006/relationships/image" Target="../media/image17.svg"/><Relationship Id="rId3" Type="http://schemas.openxmlformats.org/officeDocument/2006/relationships/tags" Target="../tags/tag8.xml"/><Relationship Id="rId29" Type="http://schemas.openxmlformats.org/officeDocument/2006/relationships/image" Target="../media/image16.png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image" Target="../media/image15.svg"/><Relationship Id="rId24" Type="http://schemas.openxmlformats.org/officeDocument/2006/relationships/image" Target="../media/image14.png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image" Target="../media/image13.svg"/><Relationship Id="rId2" Type="http://schemas.openxmlformats.org/officeDocument/2006/relationships/tags" Target="../tags/tag7.xml"/><Relationship Id="rId19" Type="http://schemas.openxmlformats.org/officeDocument/2006/relationships/image" Target="../media/image12.png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image" Target="../media/image11.svg"/><Relationship Id="rId14" Type="http://schemas.openxmlformats.org/officeDocument/2006/relationships/image" Target="../media/image10.png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image" Target="../media/image9.sv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image" Target="../media/image40.svg"/><Relationship Id="rId10" Type="http://schemas.openxmlformats.org/officeDocument/2006/relationships/image" Target="../media/image39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16.png"/><Relationship Id="rId2" Type="http://schemas.openxmlformats.org/officeDocument/2006/relationships/image" Target="../media/image45.jpe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54.jpe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image" Target="../media/image5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3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image" Target="../media/image60.svg"/><Relationship Id="rId2" Type="http://schemas.openxmlformats.org/officeDocument/2006/relationships/tags" Target="../tags/tag42.xml"/><Relationship Id="rId19" Type="http://schemas.openxmlformats.org/officeDocument/2006/relationships/image" Target="../media/image59.png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image" Target="../media/image58.svg"/><Relationship Id="rId12" Type="http://schemas.openxmlformats.org/officeDocument/2006/relationships/image" Target="../media/image57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5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4801" y="2196190"/>
            <a:ext cx="7205345" cy="1660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“智生罗盘”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基于神经网络的涡轮盘整体设计优化技术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0" y="6397625"/>
            <a:ext cx="1218677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1" y="207465"/>
            <a:ext cx="5116366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研究背景与问题提出</a:t>
            </a:r>
            <a:endParaRPr lang="en-US" sz="32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1924" b="21924"/>
          <a:stretch>
            <a:fillRect/>
          </a:stretch>
        </p:blipFill>
        <p:spPr>
          <a:xfrm>
            <a:off x="1016000" y="1778000"/>
            <a:ext cx="4699000" cy="1905000"/>
          </a:xfrm>
          <a:prstGeom prst="roundRect">
            <a:avLst>
              <a:gd name="adj" fmla="val 400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016000" y="3937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关键承力构件：涡轮盘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作为航空发动机转子系统的核心部件，其工作环境极其恶劣，承受巨大离心载荷与热载荷的双重作用。其结构设计直接决定了发动机的综合性能、运行可靠性及服役寿命。</a:t>
            </a:r>
            <a:endParaRPr lang="en-US" sz="12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600" b="1" i="0" u="none" strike="noStrike" kern="0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多目标设计的工程挑战</a:t>
            </a:r>
            <a:endParaRPr lang="en-US" sz="1600" b="1" i="0" u="none" strike="noStrike" kern="0">
              <a:solidFill>
                <a:srgbClr val="C039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设计需在转动惯量、离心载荷、应力水平、刚度、材料利用率及制造可行性之间取得复杂平衡。轻量化是持续追求的目标，但必须始终以满足严格的结构完整性和安全性要求为前提。</a:t>
            </a:r>
            <a:endParaRPr lang="en-US" sz="12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6223000" y="1524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7567" b="17567"/>
          <a:stretch>
            <a:fillRect/>
          </a:stretch>
        </p:blipFill>
        <p:spPr>
          <a:xfrm>
            <a:off x="6477000" y="1778000"/>
            <a:ext cx="4699000" cy="1905000"/>
          </a:xfrm>
          <a:prstGeom prst="roundRect">
            <a:avLst>
              <a:gd name="adj" fmla="val 400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6477000" y="3937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拓扑优化：强大的结构优化工具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能够在给定的设计空间内，基于预设的载荷与约束条件，通过数值算法自动求解最优材料分布方案，可高效识别结构主载荷路径，为高绩效设计提供有力的辅助。</a:t>
            </a:r>
            <a:endParaRPr lang="en-US" sz="12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600" b="1" i="0" u="none" strike="noStrike" kern="0">
                <a:solidFill>
                  <a:srgbClr val="D354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当前的核心痛点：几何可制造性</a:t>
            </a:r>
            <a:endParaRPr lang="en-US" sz="1600" b="1" i="0" u="none" strike="noStrike" kern="0">
              <a:solidFill>
                <a:srgbClr val="D354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拓扑优化直接输出通常为离散的密度场或灰度云图，仅揭示了“哪里该有材料”，但无法直接作为后续有限元精细分析、参数化建模以及精密制造的输入几何模型。</a:t>
            </a:r>
            <a:endParaRPr lang="en-US" sz="12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总体技术路线</a:t>
            </a:r>
            <a:endParaRPr lang="en-US" sz="32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17272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60500" y="1670050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ANSYS 建模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25A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基于有限元分析软件，建立高精度的结构几何与物理模型</a:t>
            </a:r>
            <a:endParaRPr lang="en-US" sz="1200" b="0" i="0" u="none" strike="noStrike" kern="0">
              <a:solidFill>
                <a:srgbClr val="525A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3492500" y="1651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44900" y="1736725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4191000" y="1727200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截面拓扑优化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25A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设置约束与目标函数，通过算法求解结构最优材料分布</a:t>
            </a:r>
            <a:endParaRPr lang="en-US" sz="1200" b="0" i="0" u="none" strike="noStrike" kern="0">
              <a:solidFill>
                <a:srgbClr val="525A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6223000" y="1651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75400" y="17653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6921500" y="1736725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密度与节点导出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25A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提取优化结果中的单元密度矩阵与关键几何节点坐标数据</a:t>
            </a:r>
            <a:endParaRPr lang="en-US" sz="1200" b="0" i="0" u="none" strike="noStrike" kern="0">
              <a:solidFill>
                <a:srgbClr val="525A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7"/>
            </p:custDataLst>
          </p:nvPr>
        </p:nvSpPr>
        <p:spPr>
          <a:xfrm>
            <a:off x="8953500" y="1651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05900" y="1736725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21"/>
            </p:custDataLst>
          </p:nvPr>
        </p:nvSpPr>
        <p:spPr>
          <a:xfrm>
            <a:off x="9652000" y="1660525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边界识别 轮廓提取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25A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利用图像处理算法对密度云图二值化，识别有效轮廓边界</a:t>
            </a:r>
            <a:endParaRPr lang="en-US" sz="1200" b="0" i="0" u="none" strike="noStrike" kern="0">
              <a:solidFill>
                <a:srgbClr val="525A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22"/>
            </p:custDataLst>
          </p:nvPr>
        </p:nvSpPr>
        <p:spPr>
          <a:xfrm>
            <a:off x="762000" y="3683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4400" y="3683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6"/>
            </p:custDataLst>
          </p:nvPr>
        </p:nvSpPr>
        <p:spPr>
          <a:xfrm>
            <a:off x="1460500" y="3654425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NURBS 参数化重构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25A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将离散轮廓点拟合成连续的NURBS曲线，建立参数化模型</a:t>
            </a:r>
            <a:endParaRPr lang="en-US" sz="1200" b="0" i="0" u="none" strike="noStrike" kern="0">
              <a:solidFill>
                <a:srgbClr val="525A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7"/>
            </p:custDataLst>
          </p:nvPr>
        </p:nvSpPr>
        <p:spPr>
          <a:xfrm>
            <a:off x="3492500" y="3683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644900" y="37973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31"/>
            </p:custDataLst>
          </p:nvPr>
        </p:nvSpPr>
        <p:spPr>
          <a:xfrm>
            <a:off x="4191000" y="3768725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建模与再分析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25A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通过旋转扫描生成实体模型，重新导入FEA进行力学验证</a:t>
            </a:r>
            <a:endParaRPr lang="en-US" sz="1200" b="0" i="0" u="none" strike="noStrike" kern="0">
              <a:solidFill>
                <a:srgbClr val="525A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32"/>
            </p:custDataLst>
          </p:nvPr>
        </p:nvSpPr>
        <p:spPr>
          <a:xfrm>
            <a:off x="6223000" y="3683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375400" y="3873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36"/>
            </p:custDataLst>
          </p:nvPr>
        </p:nvSpPr>
        <p:spPr>
          <a:xfrm>
            <a:off x="6921500" y="3835400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数据集构建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25A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改变初始参数多次运行流程，生成包含输入参数与输出几何的数据集</a:t>
            </a:r>
            <a:endParaRPr lang="en-US" sz="1200" b="0" i="0" u="none" strike="noStrike" kern="0">
              <a:solidFill>
                <a:srgbClr val="525A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37"/>
            </p:custDataLst>
          </p:nvPr>
        </p:nvSpPr>
        <p:spPr>
          <a:xfrm>
            <a:off x="8953500" y="3683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105900" y="38735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41"/>
            </p:custDataLst>
          </p:nvPr>
        </p:nvSpPr>
        <p:spPr>
          <a:xfrm>
            <a:off x="9652000" y="3835400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MLP 快速预测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25A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训练多层感知机神经网络，实现从参数到最优结构的毫秒级映射</a:t>
            </a:r>
            <a:endParaRPr lang="en-US" sz="1200" b="0" i="0" u="none" strike="noStrike" kern="0">
              <a:solidFill>
                <a:srgbClr val="525A6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62000" y="5588000"/>
            <a:ext cx="10731500" cy="1016000"/>
          </a:xfrm>
          <a:prstGeom prst="roundRect">
            <a:avLst>
              <a:gd name="adj" fmla="val 15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52500" y="5740400"/>
            <a:ext cx="1035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</a:t>
            </a:r>
            <a:r>
              <a:rPr lang="en-US" sz="15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</a:t>
            </a:r>
            <a:r>
              <a:rPr lang="en-US" sz="15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用神经网络作为一个高效的</a:t>
            </a:r>
            <a:r>
              <a:rPr lang="en-US" sz="15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代理模型 (Surrogate Model)</a:t>
            </a:r>
            <a:r>
              <a:rPr lang="en-US" sz="15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，用于快速筛选设计方案和进行初步设计，从而在保证精度的同时显著提升效率。</a:t>
            </a:r>
            <a:endParaRPr lang="en-US" sz="15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/>
          <a:srcRect l="27969" t="9365" r="19219" b="-310"/>
          <a:stretch>
            <a:fillRect/>
          </a:stretch>
        </p:blipFill>
        <p:spPr>
          <a:xfrm>
            <a:off x="3695700" y="2180590"/>
            <a:ext cx="2209800" cy="1006475"/>
          </a:xfrm>
          <a:prstGeom prst="rect">
            <a:avLst/>
          </a:prstGeom>
        </p:spPr>
      </p:pic>
      <p:pic>
        <p:nvPicPr>
          <p:cNvPr id="31" name="图片 30" descr="density_cloud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6426200" y="2224405"/>
            <a:ext cx="2211070" cy="1052195"/>
          </a:xfrm>
          <a:prstGeom prst="rect">
            <a:avLst/>
          </a:prstGeom>
        </p:spPr>
      </p:pic>
      <p:pic>
        <p:nvPicPr>
          <p:cNvPr id="32" name="图片 31" descr="nurbs_fit_overlay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804545" y="4111625"/>
            <a:ext cx="2360930" cy="1193800"/>
          </a:xfrm>
          <a:prstGeom prst="rect">
            <a:avLst/>
          </a:prstGeom>
        </p:spPr>
      </p:pic>
      <p:pic>
        <p:nvPicPr>
          <p:cNvPr id="33" name="图片 32" descr="boundary_overlay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030970" y="2077720"/>
            <a:ext cx="2440305" cy="119951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4400" y="2136775"/>
            <a:ext cx="2311400" cy="1063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几何误差评价与当前重构结果</a:t>
            </a:r>
            <a:endParaRPr lang="en-US" sz="32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78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14500"/>
            <a:ext cx="158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kern="0">
                <a:solidFill>
                  <a:srgbClr val="FF66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</a:t>
            </a:r>
            <a:r>
              <a:rPr lang="zh-CN" altLang="en-US" sz="2400" b="1" i="0" u="none" strike="noStrike" kern="0">
                <a:solidFill>
                  <a:srgbClr val="002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2400" b="1" i="0" u="none" strike="noStrike" kern="0">
                <a:solidFill>
                  <a:srgbClr val="002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1050</a:t>
            </a:r>
            <a:r>
              <a:rPr lang="zh-CN" altLang="en-US" sz="2400" b="1" i="0" u="none" strike="noStrike" kern="0">
                <a:solidFill>
                  <a:srgbClr val="002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2400" b="1" i="0" u="none" strike="noStrike" kern="0">
              <a:solidFill>
                <a:srgbClr val="002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6615" y="2349500"/>
            <a:ext cx="235013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控制点数 (Control Points)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实现极高维度压缩</a:t>
            </a:r>
            <a:endParaRPr lang="en-US" sz="1100" b="0" i="0" u="none" strike="noStrike" kern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556000" y="1524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318000" y="1714500"/>
            <a:ext cx="158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FF66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0.3341</a:t>
            </a:r>
            <a:r>
              <a:rPr lang="en-US" sz="1400" b="0" i="0" u="none" strike="noStrike" kern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mm</a:t>
            </a:r>
            <a:endParaRPr lang="en-US" sz="1400" b="0" i="0" u="none" strike="noStrike" kern="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746500" y="2413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平均拟合误差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Mean Fitting Error</a:t>
            </a:r>
            <a:endParaRPr lang="en-US" sz="1100" b="0" i="0" u="none" strike="noStrike" kern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1524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778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1714500"/>
            <a:ext cx="158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FF66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1.4429</a:t>
            </a:r>
            <a:r>
              <a:rPr lang="en-US" sz="1400" b="0" i="0" u="none" strike="noStrike" kern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mm</a:t>
            </a:r>
            <a:endParaRPr lang="en-US" sz="1400" b="0" i="0" u="none" strike="noStrike" kern="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540500" y="2413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最大拟合误差 (Max)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等同于 Hausdorff 误差</a:t>
            </a:r>
            <a:endParaRPr lang="en-US" sz="1100" b="0" i="0" u="none" strike="noStrike" kern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890000" y="1524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0500" y="1778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652000" y="1714500"/>
            <a:ext cx="158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FF66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0.9908</a:t>
            </a:r>
            <a:r>
              <a:rPr lang="en-US" sz="1400" b="0" i="0" u="none" strike="noStrike" kern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400" b="0" i="0" u="none" strike="noStrike" kern="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080500" y="2413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面积相对误差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Relative Area Error</a:t>
            </a:r>
            <a:endParaRPr lang="en-US" sz="1100" b="0" i="0" u="none" strike="noStrike" kern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3683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016000" y="3937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算法参数与验证</a:t>
            </a:r>
            <a:endParaRPr lang="en-US" sz="18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016000" y="4699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曲线次数:</a:t>
            </a:r>
            <a:r>
              <a:rPr lang="en-US" sz="13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 = 3 (三次B样条)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曲线类型:Periodic B-spline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权因子:统一固定为 1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429000" y="4699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误差度量:Hausdorff 距离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代码验证:</a:t>
            </a:r>
            <a:r>
              <a:rPr lang="en-US" sz="1300" b="1" i="0" u="none" strike="noStrike" kern="0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pytest 5 passed</a:t>
            </a:r>
            <a:endParaRPr lang="en-US" sz="1300" b="1" i="0" u="none" strike="noStrike" kern="0">
              <a:solidFill>
                <a:srgbClr val="16A3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开发环境:Python + OpenCASCADE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3683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937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85000" y="3911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关键结论 (Key Findings)</a:t>
            </a:r>
            <a:endParaRPr lang="en-US" sz="1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477000" y="4445000"/>
            <a:ext cx="4699000" cy="16395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ECF0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重构几何与原始拓扑优化结果高度一致，</a:t>
            </a:r>
            <a:r>
              <a:rPr lang="en-US" sz="1600" b="1" i="0" u="none" strike="noStrike" kern="0">
                <a:solidFill>
                  <a:srgbClr val="FF66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面积相对误差 &lt; 1%</a:t>
            </a:r>
            <a:r>
              <a:rPr lang="en-US" sz="1600" b="0" i="0" u="none" strike="noStrike" kern="0">
                <a:solidFill>
                  <a:srgbClr val="ECF0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，证明了几何还原的精确性。</a:t>
            </a:r>
            <a:endParaRPr lang="en-US"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0">
                <a:solidFill>
                  <a:srgbClr val="ECF0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通过参数化方法，将复杂的拓扑形状压缩为</a:t>
            </a:r>
            <a:r>
              <a:rPr lang="en-US" sz="1600" b="1" i="0" u="none" strike="noStrike" kern="0">
                <a:solidFill>
                  <a:srgbClr val="FF66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仅15个控制点</a:t>
            </a:r>
            <a:r>
              <a:rPr lang="en-US" sz="1600" b="0" i="0" u="none" strike="noStrike" kern="0">
                <a:solidFill>
                  <a:srgbClr val="ECF0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的描述，实现了极高的维度压缩，非常适合作为神经网络的输出标签进行后续预测。</a:t>
            </a:r>
            <a:endParaRPr lang="en-US" sz="1600" b="0" i="0" u="none" strike="noStrike" kern="0">
              <a:solidFill>
                <a:srgbClr val="ECF0F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本文定位、创新点与当前进展</a:t>
            </a:r>
            <a:endParaRPr lang="en-US" sz="32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690245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397000" y="1803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论文定位</a:t>
            </a:r>
            <a:endParaRPr lang="en-US" sz="28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109345" y="2446020"/>
            <a:ext cx="6178550" cy="34651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124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工程化衔接</a:t>
            </a:r>
            <a:endParaRPr lang="en-US"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聚焦于涡轮盘拓扑优化结果的工程化落地</a:t>
            </a:r>
            <a:endParaRPr lang="en-US" b="0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2000"/>
              </a:spcBef>
              <a:spcAft>
                <a:spcPts val="0"/>
              </a:spcAft>
            </a:pPr>
            <a:r>
              <a:rPr lang="en-US" sz="2000" b="1" i="0" u="none" strike="noStrike" kern="0">
                <a:solidFill>
                  <a:srgbClr val="124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低维表征</a:t>
            </a:r>
            <a:endParaRPr lang="en-US" sz="2000" b="1" i="0" u="none" strike="noStrike" kern="0">
              <a:solidFill>
                <a:srgbClr val="124E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探索使用NURBS/B-spline进行低维参数化表达，实现几何信息的紧凑存储，为后续神经网络代理模型的构建奠定基础。</a:t>
            </a:r>
            <a:endParaRPr lang="en-US" b="0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endParaRPr lang="en-US" b="0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kern="0">
                <a:solidFill>
                  <a:srgbClr val="124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</a:t>
            </a:r>
            <a:r>
              <a:rPr lang="zh-CN" altLang="en-US" sz="2000" b="1" kern="0">
                <a:solidFill>
                  <a:srgbClr val="124E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神经网络</a:t>
            </a:r>
            <a:endParaRPr lang="zh-CN" altLang="en-US" sz="2000" b="1" kern="0">
              <a:solidFill>
                <a:srgbClr val="124E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探索使用NURBS/B-spline进行低维参数化表达，实现几何信息的紧凑存储，为后续神经网络代理模型的构建奠定基础</a:t>
            </a:r>
            <a:endParaRPr lang="en-US" altLang="en-US" b="1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8060055" y="1651000"/>
            <a:ext cx="3369945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18500" y="190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8763000" y="18542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待补充方向</a:t>
            </a:r>
            <a:endParaRPr lang="zh-CN" altLang="en-US" sz="28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8255000" y="2510155"/>
            <a:ext cx="2921000" cy="2981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sz="2400" b="1" i="0" u="none" strike="noStrike" kern="0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🚧 </a:t>
            </a:r>
            <a:r>
              <a:rPr lang="en-US" sz="2000" b="1" i="0" u="none" strike="noStrike" kern="0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后续重点攻关方向</a:t>
            </a:r>
            <a:endParaRPr lang="en-US" sz="2400" b="1" i="0" u="none" strike="noStrike" kern="0">
              <a:solidFill>
                <a:srgbClr val="D953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【补全</a:t>
            </a:r>
            <a:r>
              <a:rPr lang="en-US" altLang="zh-CN" b="1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Pipeline</a:t>
            </a:r>
            <a:r>
              <a:rPr lang="zh-CN" altLang="en-US" b="1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】</a:t>
            </a:r>
            <a:r>
              <a:rPr lang="zh-CN" alt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补充数据，实现神经网络落地</a:t>
            </a:r>
            <a:br>
              <a:rPr lang="zh-CN" alt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2000" b="1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【实现自动化】</a:t>
            </a:r>
            <a:r>
              <a:rPr lang="zh-CN" alt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借助</a:t>
            </a:r>
            <a:r>
              <a:rPr lang="en-US" altLang="zh-CN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r>
              <a:rPr lang="zh-CN" alt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，完成从初始需求到最终模型的全流程自动化。</a:t>
            </a:r>
            <a:br>
              <a:rPr lang="en-US" sz="24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2000" b="1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【实体模型验证】</a:t>
            </a:r>
            <a:r>
              <a:rPr lang="zh-CN" alt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验证实体模型效率</a:t>
            </a:r>
            <a:endParaRPr lang="zh-CN" altLang="en-US" sz="2000" b="1" i="0" u="none" strike="noStrike" kern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设计对象与基本假设</a:t>
            </a:r>
            <a:endParaRPr lang="en-US" sz="36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1600" cy="4572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032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设计对象</a:t>
            </a:r>
            <a:endParaRPr lang="en-US" sz="24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43000" y="2667000"/>
            <a:ext cx="4445000" cy="1097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本研究的核心分析对象为航空发动机</a:t>
            </a:r>
            <a:r>
              <a:rPr lang="en-US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涡轮盘的二维轴对称截面</a:t>
            </a:r>
            <a:r>
              <a:rPr lang="en-US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33000"/>
              </a:lnSpc>
              <a:spcBef>
                <a:spcPts val="1600"/>
              </a:spcBef>
              <a:spcAft>
                <a:spcPts val="0"/>
              </a:spcAft>
            </a:pPr>
            <a:endParaRPr lang="en-US" sz="1400" b="0" i="0" u="none" strike="noStrike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101600" cy="4572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032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032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基本假设与目标</a:t>
            </a:r>
            <a:endParaRPr lang="en-US" sz="24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604000" y="2738120"/>
            <a:ext cx="457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</a:t>
            </a:r>
            <a:r>
              <a:rPr lang="en-US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材料：</a:t>
            </a:r>
            <a:r>
              <a:rPr lang="en-US" sz="16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FGH96</a:t>
            </a:r>
            <a:r>
              <a:rPr lang="zh-CN" alt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（旋转类工件常用材料）</a:t>
            </a:r>
            <a:endParaRPr lang="en-US"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载荷工况：</a:t>
            </a:r>
            <a:r>
              <a:rPr 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16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离心载荷</a:t>
            </a:r>
            <a:r>
              <a:rPr lang="zh-CN" altLang="en-US" sz="16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，叶片榫接应力</a:t>
            </a:r>
            <a:r>
              <a:rPr 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为主要分析工况，</a:t>
            </a:r>
            <a:r>
              <a:rPr lang="en-US" sz="16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热载荷</a:t>
            </a:r>
            <a:r>
              <a:rPr 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作为扩展工况在后续阶段纳入。</a:t>
            </a:r>
            <a:endParaRPr lang="en-US" sz="16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优化目标：</a:t>
            </a:r>
            <a:r>
              <a:rPr 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在满足</a:t>
            </a:r>
            <a:r>
              <a:rPr lang="zh-CN" altLang="en-US" sz="16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</a:t>
            </a:r>
            <a:r>
              <a:rPr lang="en-US" sz="16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分数50%约束</a:t>
            </a:r>
            <a:r>
              <a:rPr 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的前提下，最大化截面刚度，即</a:t>
            </a:r>
            <a:r>
              <a:rPr lang="en-US" sz="16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最小化结构柔顺度</a:t>
            </a:r>
            <a:r>
              <a:rPr 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评价指标：</a:t>
            </a:r>
            <a:r>
              <a:rPr 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以重构模型的</a:t>
            </a:r>
            <a:r>
              <a:rPr lang="en-US" sz="16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最大等效应力和最大位移</a:t>
            </a:r>
            <a:r>
              <a:rPr lang="en-US" sz="16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作为核心评价与后续约束条件。</a:t>
            </a:r>
            <a:endParaRPr lang="en-US" sz="16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378200"/>
            <a:ext cx="452755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拓扑优化模型</a:t>
            </a:r>
            <a:endParaRPr lang="en-US" sz="3200" b="1" i="0" u="none" strike="noStrike" kern="0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572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438" r="438"/>
          <a:stretch>
            <a:fillRect/>
          </a:stretch>
        </p:blipFill>
        <p:spPr>
          <a:xfrm>
            <a:off x="1016000" y="2032000"/>
            <a:ext cx="4064000" cy="317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5397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图：SIMP 材料插值模型示意曲线</a:t>
            </a:r>
            <a:endParaRPr lang="en-US" sz="1400" b="0" i="0" u="none" strike="noStrike" kern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0" y="1651000"/>
            <a:ext cx="571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196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04000" y="1778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材料插值模型 (SIMP)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采用固体各向同性材料惩罚模型。核心公式：</a:t>
            </a:r>
            <a:r>
              <a:rPr lang="en-US" sz="13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E(ρ) = E_min + ρᵖ(E₀ - E_min)</a:t>
            </a: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。其中 E(ρ) 为单元模量，ρ 为相对密度，p 为惩罚因子，用于引导中间密度趋向 0 或 1。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715000" y="3302000"/>
            <a:ext cx="571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5500" y="3619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604000" y="3429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惩罚因子 p 的取值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惩罚因子迫使中间密度单元向“实心”(1) 或“空心”(0) 收敛。在结构工程领域，经验值</a:t>
            </a:r>
            <a:r>
              <a:rPr lang="en-US" sz="1600" b="1" i="0" u="none" strike="noStrike" kern="0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 = 3</a:t>
            </a: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是目前应用最广泛且效果稳定的选择。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715000" y="4953000"/>
            <a:ext cx="571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5500" y="5270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04000" y="5080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数值稳定性与过滤技术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为解决计算过程中出现的“棋盘格”现象和网格依赖性，引入</a:t>
            </a:r>
            <a:r>
              <a:rPr lang="en-US" sz="13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密度过滤</a:t>
            </a: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</a:t>
            </a:r>
            <a:r>
              <a:rPr lang="en-US" sz="1300" b="1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灵敏度过滤</a:t>
            </a: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技术，确保最终拓扑构型物理上可制造、几何上平滑。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神经网络快速设计框架</a:t>
            </a:r>
            <a:endParaRPr lang="en-US" sz="3200" b="1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神经网络定位为参数化几何后的快速预测模块，旨在加速多工况下的方案迭代，实现“快迭代、精验证”的闭环设计。</a:t>
            </a:r>
            <a:endParaRPr lang="en-US" sz="1600" b="0" i="0" u="none" strike="noStrike" kern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101600" cy="825500"/>
          </a:xfrm>
          <a:prstGeom prst="roundRect">
            <a:avLst>
              <a:gd name="adj" fmla="val 0"/>
            </a:avLst>
          </a:prstGeom>
          <a:solidFill>
            <a:srgbClr val="005AA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005A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核心定位：</a:t>
            </a:r>
            <a:r>
              <a:rPr lang="en-US" sz="1400" b="0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</a:t>
            </a:r>
            <a:r>
              <a:rPr lang="en-US" sz="1400" b="1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辅助工具</a:t>
            </a:r>
            <a:r>
              <a:rPr lang="en-US" sz="1400" b="0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加速方案生成，不替代高精度有限元分析。</a:t>
            </a:r>
            <a:endParaRPr lang="en-US" sz="1400" b="0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101600" cy="825500"/>
          </a:xfrm>
          <a:prstGeom prst="roundRect">
            <a:avLst>
              <a:gd name="adj" fmla="val 0"/>
            </a:avLst>
          </a:prstGeom>
          <a:solidFill>
            <a:srgbClr val="005AA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2385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005A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模型输入 (Input)：</a:t>
            </a:r>
            <a:r>
              <a:rPr lang="en-US" sz="1400" b="0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多工况物理参数与初始设计参数（如转速、体积分数、几何尺寸约束等）。</a:t>
            </a:r>
            <a:endParaRPr lang="en-US" sz="1400" b="0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101600" cy="825500"/>
          </a:xfrm>
          <a:prstGeom prst="roundRect">
            <a:avLst>
              <a:gd name="adj" fmla="val 0"/>
            </a:avLst>
          </a:prstGeom>
          <a:solidFill>
            <a:srgbClr val="005AA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42545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005A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模型输出 (Output)：</a:t>
            </a:r>
            <a:r>
              <a:rPr lang="en-US" sz="1400" b="0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低维几何参数（如NURBS控制点坐标），可直接驱动几何重构。</a:t>
            </a:r>
            <a:endParaRPr lang="en-US" sz="1400" b="0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4826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101600" cy="825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当前进展：</a:t>
            </a:r>
            <a:r>
              <a:rPr lang="en-US" sz="1400" b="0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已完成框架逻辑设计，正着手构建基于ANSYS仿真的批量训练样本库。</a:t>
            </a:r>
            <a:endParaRPr lang="en-US" sz="1400" b="0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096000" y="2159000"/>
            <a:ext cx="5334000" cy="1524000"/>
          </a:xfrm>
          <a:prstGeom prst="roundRect">
            <a:avLst>
              <a:gd name="adj" fmla="val 8333"/>
            </a:avLst>
          </a:prstGeom>
          <a:solidFill>
            <a:srgbClr val="F0F5FF">
              <a:alpha val="100000"/>
            </a:srgbClr>
          </a:solidFill>
          <a:ln w="12700" cap="flat" cmpd="sng">
            <a:solidFill>
              <a:srgbClr val="005AA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86500" y="2413000"/>
            <a:ext cx="1079500" cy="1016000"/>
          </a:xfrm>
          <a:prstGeom prst="roundRect">
            <a:avLst>
              <a:gd name="adj" fmla="val 10000"/>
            </a:avLst>
          </a:prstGeom>
          <a:solidFill>
            <a:srgbClr val="005AA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86500" y="2603500"/>
            <a:ext cx="107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工况/参数</a:t>
            </a:r>
            <a:b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</a:t>
            </a:r>
            <a:endParaRPr lang="en-US" sz="13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3000" y="2730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937500" y="2413000"/>
            <a:ext cx="1079500" cy="1016000"/>
          </a:xfrm>
          <a:prstGeom prst="roundRect">
            <a:avLst>
              <a:gd name="adj" fmla="val 10000"/>
            </a:avLst>
          </a:prstGeom>
          <a:solidFill>
            <a:srgbClr val="005AA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937500" y="2603500"/>
            <a:ext cx="107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MLP</a:t>
            </a:r>
            <a:b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回归预测</a:t>
            </a:r>
            <a:endParaRPr lang="en-US" sz="13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2730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652000" y="2413000"/>
            <a:ext cx="1524000" cy="1016000"/>
          </a:xfrm>
          <a:prstGeom prst="roundRect">
            <a:avLst>
              <a:gd name="adj" fmla="val 1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652000" y="26035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几何重构与</a:t>
            </a:r>
            <a:b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有限元验证</a:t>
            </a:r>
            <a:endParaRPr lang="en-US" sz="13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 l="3719" r="3719"/>
          <a:stretch>
            <a:fillRect/>
          </a:stretch>
        </p:blipFill>
        <p:spPr>
          <a:xfrm>
            <a:off x="6096000" y="3937000"/>
            <a:ext cx="2667000" cy="2095500"/>
          </a:xfrm>
          <a:prstGeom prst="rect">
            <a:avLst/>
          </a:prstGeom>
          <a:noFill/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7" name="AutoShape 27"/>
          <p:cNvSpPr/>
          <p:nvPr/>
        </p:nvSpPr>
        <p:spPr>
          <a:xfrm>
            <a:off x="9017000" y="3937000"/>
            <a:ext cx="2413000" cy="2095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144000" y="4191000"/>
            <a:ext cx="2159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0" u="none" strike="noStrike" kern="0">
                <a:solidFill>
                  <a:srgbClr val="005A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网络架构选型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</a:t>
            </a:r>
            <a:r>
              <a:rPr lang="en-US" sz="1200" b="1" i="0" u="none" strike="noStrike" kern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多层感知机 (MLP)</a:t>
            </a:r>
            <a:r>
              <a:rPr lang="en-US" sz="1200" b="0" i="0" u="none" strike="noStrike" kern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作为基础回归模型。相比CNN或Transformer等复杂网络，MLP结构更简单、易于部署与解释，适合在有限样本量下进行快速训练和推理，满足工程应用需求。</a:t>
            </a:r>
            <a:endParaRPr lang="en-US" sz="1200" b="0" i="0" u="none" strike="noStrike" kern="0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3200" b="1" i="0" u="none" strike="noStrike" ker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成功构建了从拓扑优化结果到参数化工程几何的技术框架，并为神经网络辅助设计奠定了坚实基础。</a:t>
            </a:r>
            <a:endParaRPr lang="en-US" sz="1600" b="0" i="0" u="none" strike="noStrike" kern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330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413000"/>
            <a:ext cx="3302000" cy="812800"/>
          </a:xfrm>
          <a:prstGeom prst="roundRect">
            <a:avLst>
              <a:gd name="adj" fmla="val 0"/>
            </a:avLst>
          </a:prstGeom>
          <a:solidFill>
            <a:srgbClr val="005AA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616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397000" y="2514600"/>
            <a:ext cx="241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 Completed</a:t>
            </a:r>
            <a:endParaRPr lang="en-US" sz="20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952500" y="3429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建立了完整的技术路线与数学模型，确保理论严谨性。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实现了从密度场到NURBS参数化几何的自动转换。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打通了三维几何重建与有限元再分析的完整接口。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搭建了神经网络辅助设计的标准化输入输出框架。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445000" y="2413000"/>
            <a:ext cx="330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445000" y="2413000"/>
            <a:ext cx="3302000" cy="812800"/>
          </a:xfrm>
          <a:prstGeom prst="roundRect">
            <a:avLst>
              <a:gd name="adj" fmla="val 0"/>
            </a:avLst>
          </a:prstGeom>
          <a:solidFill>
            <a:srgbClr val="005AA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5500" y="26162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5080000" y="2514600"/>
            <a:ext cx="241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可扩展 Extendable</a:t>
            </a:r>
            <a:endParaRPr lang="en-US" sz="20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4635500" y="3429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引入热-结构耦合载荷，增强模型的工程适用性。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增加应力、位移等显式物理约束条件。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探索CNN、Transformer等更复杂的深度学习网络架构。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拓展算法至三维局部复杂特征的参数化与优化。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128000" y="2413000"/>
            <a:ext cx="330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128000" y="2413000"/>
            <a:ext cx="3302000" cy="812800"/>
          </a:xfrm>
          <a:prstGeom prst="roundRect">
            <a:avLst>
              <a:gd name="adj" fmla="val 0"/>
            </a:avLst>
          </a:prstGeom>
          <a:solidFill>
            <a:srgbClr val="005AA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18500" y="26162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8763000" y="2514600"/>
            <a:ext cx="241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后续工作 Future Work</a:t>
            </a:r>
            <a:endParaRPr lang="en-US" sz="20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318500" y="3429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完成批量ANSYS样本的自动化计算与结果验证。</a:t>
            </a:r>
            <a:endParaRPr lang="en-US" sz="11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完成神经网络的真实工程数据集训练与测试。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进行全面的结构工程强度校核与误差量化分析。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3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实现全流程自动化脚本开发，提升设计效率。</a:t>
            </a:r>
            <a:endParaRPr lang="en-US" sz="13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0" y="6397625"/>
            <a:ext cx="1218677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1" y="207465"/>
            <a:ext cx="5116366" cy="1080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74326" y="2149200"/>
            <a:ext cx="7205345" cy="1660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“智生罗盘”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基于神经网络的涡轮盘整体设计优化技术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3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4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5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6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7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8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9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0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1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2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3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4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5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6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7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8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19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0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1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2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3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4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5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6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7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8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29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30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31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32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33.xml><?xml version="1.0" encoding="utf-8"?>
<p:tagLst xmlns:p="http://schemas.openxmlformats.org/presentationml/2006/main">
  <p:tag name="KSO_WM_DIAGRAM_VIRTUALLY_FRAME" val="{&quot;height&quot;:290,&quot;left&quot;:60,&quot;top&quot;:130,&quot;width&quot;:845}"/>
</p:tagLst>
</file>

<file path=ppt/tags/tag34.xml><?xml version="1.0" encoding="utf-8"?>
<p:tagLst xmlns:p="http://schemas.openxmlformats.org/presentationml/2006/main">
  <p:tag name="KSO_WM_DIAGRAM_VIRTUALLY_FRAME" val="{&quot;height&quot;:370,&quot;left&quot;:60,&quot;top&quot;:130,&quot;width&quot;:840}"/>
</p:tagLst>
</file>

<file path=ppt/tags/tag35.xml><?xml version="1.0" encoding="utf-8"?>
<p:tagLst xmlns:p="http://schemas.openxmlformats.org/presentationml/2006/main">
  <p:tag name="KSO_WM_DIAGRAM_VIRTUALLY_FRAME" val="{&quot;height&quot;:370,&quot;left&quot;:60,&quot;top&quot;:130,&quot;width&quot;:840}"/>
</p:tagLst>
</file>

<file path=ppt/tags/tag36.xml><?xml version="1.0" encoding="utf-8"?>
<p:tagLst xmlns:p="http://schemas.openxmlformats.org/presentationml/2006/main">
  <p:tag name="KSO_WM_DIAGRAM_VIRTUALLY_FRAME" val="{&quot;height&quot;:370,&quot;left&quot;:60,&quot;top&quot;:130,&quot;width&quot;:840}"/>
</p:tagLst>
</file>

<file path=ppt/tags/tag37.xml><?xml version="1.0" encoding="utf-8"?>
<p:tagLst xmlns:p="http://schemas.openxmlformats.org/presentationml/2006/main">
  <p:tag name="KSO_WM_DIAGRAM_VIRTUALLY_FRAME" val="{&quot;height&quot;:370,&quot;left&quot;:60,&quot;top&quot;:130,&quot;width&quot;:840}"/>
</p:tagLst>
</file>

<file path=ppt/tags/tag38.xml><?xml version="1.0" encoding="utf-8"?>
<p:tagLst xmlns:p="http://schemas.openxmlformats.org/presentationml/2006/main">
  <p:tag name="KSO_WM_DIAGRAM_VIRTUALLY_FRAME" val="{&quot;height&quot;:370,&quot;left&quot;:60,&quot;top&quot;:130,&quot;width&quot;:840}"/>
</p:tagLst>
</file>

<file path=ppt/tags/tag39.xml><?xml version="1.0" encoding="utf-8"?>
<p:tagLst xmlns:p="http://schemas.openxmlformats.org/presentationml/2006/main">
  <p:tag name="KSO_WM_DIAGRAM_VIRTUALLY_FRAME" val="{&quot;height&quot;:370,&quot;left&quot;:60,&quot;top&quot;:130,&quot;width&quot;:840}"/>
</p:tagLst>
</file>

<file path=ppt/tags/tag40.xml><?xml version="1.0" encoding="utf-8"?>
<p:tagLst xmlns:p="http://schemas.openxmlformats.org/presentationml/2006/main">
  <p:tag name="KSO_WM_DIAGRAM_VIRTUALLY_FRAME" val="{&quot;height&quot;:370,&quot;left&quot;:60,&quot;top&quot;:130,&quot;width&quot;:840}"/>
</p:tagLst>
</file>

<file path=ppt/tags/tag41.xml><?xml version="1.0" encoding="utf-8"?>
<p:tagLst xmlns:p="http://schemas.openxmlformats.org/presentationml/2006/main">
  <p:tag name="KSO_WM_DIAGRAM_VIRTUALLY_FRAME" val="{&quot;height&quot;:370,&quot;left&quot;:60,&quot;top&quot;:130,&quot;width&quot;:840}"/>
</p:tagLst>
</file>

<file path=ppt/tags/tag42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43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44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45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46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47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48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49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50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51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52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53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54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55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ags/tag56.xml><?xml version="1.0" encoding="utf-8"?>
<p:tagLst xmlns:p="http://schemas.openxmlformats.org/presentationml/2006/main">
  <p:tag name="KSO_WM_DIAGRAM_VIRTUALLY_FRAME" val="{&quot;height&quot;:310,&quot;left&quot;:60,&quot;top&quot;:190,&quot;width&quot;:840}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2701</Words>
  <Application>WPS 演示</Application>
  <PresentationFormat>宽屏</PresentationFormat>
  <Paragraphs>177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Arial</vt:lpstr>
      <vt:lpstr>Times New Roman</vt:lpstr>
      <vt:lpstr>微软雅黑</vt:lpstr>
      <vt:lpstr>Noto Sans SC</vt:lpstr>
      <vt:lpstr>Arial Unicode MS</vt:lpstr>
      <vt:lpstr>等线</vt:lpstr>
      <vt:lpstr>默认主题</vt:lpstr>
      <vt:lpstr>1_默认主题</vt:lpstr>
      <vt:lpstr>2_默认主题</vt:lpstr>
      <vt:lpstr>3_默认主题</vt:lpstr>
      <vt:lpstr>5_默认主题</vt:lpstr>
      <vt:lpstr>6_默认主题</vt:lpstr>
      <vt:lpstr>7_默认主题</vt:lpstr>
      <vt:lpstr>8_默认主题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奕博 黄</dc:creator>
  <cp:lastModifiedBy>黄奕博</cp:lastModifiedBy>
  <cp:revision>6</cp:revision>
  <dcterms:created xsi:type="dcterms:W3CDTF">2026-04-02T05:59:00Z</dcterms:created>
  <dcterms:modified xsi:type="dcterms:W3CDTF">2026-05-10T07:15:38Z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30D6AE1C4E164EC88CD4921DF4799117_12</vt:lpwstr>
  </property>
</Properties>
</file>